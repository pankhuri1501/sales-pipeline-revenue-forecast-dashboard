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83" r:id="rId6"/>
    <p:sldId id="271" r:id="rId7"/>
    <p:sldId id="279" r:id="rId8"/>
    <p:sldId id="281" r:id="rId9"/>
    <p:sldId id="280" r:id="rId10"/>
    <p:sldId id="257" r:id="rId11"/>
    <p:sldId id="275" r:id="rId12"/>
    <p:sldId id="276" r:id="rId13"/>
    <p:sldId id="284" r:id="rId14"/>
    <p:sldId id="285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83"/>
            <p14:sldId id="271"/>
            <p14:sldId id="279"/>
            <p14:sldId id="281"/>
            <p14:sldId id="280"/>
            <p14:sldId id="257"/>
            <p14:sldId id="275"/>
            <p14:sldId id="276"/>
            <p14:sldId id="284"/>
            <p14:sldId id="285"/>
            <p14:sldId id="282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241" autoAdjust="0"/>
  </p:normalViewPr>
  <p:slideViewPr>
    <p:cSldViewPr snapToGrid="0">
      <p:cViewPr varScale="1">
        <p:scale>
          <a:sx n="86" d="100"/>
          <a:sy n="86" d="100"/>
        </p:scale>
        <p:origin x="847" y="5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06DB3B-E44A-414C-A09D-742134B13025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6CA91EC-B7AC-4640-B07F-759457551515}">
      <dgm:prSet phldrT="[Text]" phldr="0" custT="1"/>
      <dgm:spPr/>
      <dgm:t>
        <a:bodyPr/>
        <a:lstStyle/>
        <a:p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Agenda</a:t>
          </a:r>
        </a:p>
      </dgm:t>
    </dgm:pt>
    <dgm:pt modelId="{AECE9136-2A14-4709-B2AB-6594F424BC61}" type="parTrans" cxnId="{58639B2D-B91A-410D-97E0-830BA8BFCD13}">
      <dgm:prSet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1F8FDD-630D-42CF-8524-D3144785EBE5}" type="sibTrans" cxnId="{58639B2D-B91A-410D-97E0-830BA8BFCD13}">
      <dgm:prSet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7A30AB-A20D-4335-8059-0B7B40464F0D}">
      <dgm:prSet phldrT="[Text]" phldr="0" custT="1"/>
      <dgm:spPr/>
      <dgm:t>
        <a:bodyPr/>
        <a:lstStyle/>
        <a:p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Revenue Forecasting</a:t>
          </a:r>
        </a:p>
      </dgm:t>
    </dgm:pt>
    <dgm:pt modelId="{E517BCF0-7A32-4A12-A6BD-DE401948F84E}" type="parTrans" cxnId="{3556C02D-BAC8-4BE1-8EF0-FD8401AA035E}">
      <dgm:prSet custT="1"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34D5F8-4304-4E4A-9182-F30CBDDCE84F}" type="sibTrans" cxnId="{3556C02D-BAC8-4BE1-8EF0-FD8401AA035E}">
      <dgm:prSet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DA1D7-443F-4DAF-BB4C-230C3368363D}">
      <dgm:prSet phldrT="[Text]" phldr="0" custT="1"/>
      <dgm:spPr/>
      <dgm:t>
        <a:bodyPr/>
        <a:lstStyle/>
        <a:p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Sales Performance</a:t>
          </a:r>
        </a:p>
      </dgm:t>
    </dgm:pt>
    <dgm:pt modelId="{E1A5DAC8-1AC7-45FD-A906-7CE3E1F35412}" type="parTrans" cxnId="{7E4A1D6D-8D8A-4EA7-AAFE-DF86A9002B05}">
      <dgm:prSet custT="1"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21077E-0DCF-46E5-B327-DE52129F4453}" type="sibTrans" cxnId="{7E4A1D6D-8D8A-4EA7-AAFE-DF86A9002B05}">
      <dgm:prSet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7281D7-E01D-49BF-853A-651ADF830121}">
      <dgm:prSet phldrT="[Text]" phldr="0" custT="1"/>
      <dgm:spPr/>
      <dgm:t>
        <a:bodyPr/>
        <a:lstStyle/>
        <a:p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Geographic Analysis</a:t>
          </a:r>
        </a:p>
      </dgm:t>
    </dgm:pt>
    <dgm:pt modelId="{C15DDE48-90BB-487A-A35F-7654BA110B81}" type="parTrans" cxnId="{1EC6FFF7-228D-45FD-9391-A40655B4A425}">
      <dgm:prSet custT="1"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70B658-8308-4CB5-A64B-92E2802FCFEE}" type="sibTrans" cxnId="{1EC6FFF7-228D-45FD-9391-A40655B4A425}">
      <dgm:prSet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9A6D20-C733-49A2-8E1E-D34E0D329A28}">
      <dgm:prSet phldrT="[Text]" phldr="0" custT="1"/>
      <dgm:spPr/>
      <dgm:t>
        <a:bodyPr/>
        <a:lstStyle/>
        <a:p>
          <a:r>
            <a:rPr lang="en-IN" sz="1200" b="1" dirty="0">
              <a:latin typeface="Arial" panose="020B0604020202020204" pitchFamily="34" charset="0"/>
              <a:cs typeface="Arial" panose="020B0604020202020204" pitchFamily="34" charset="0"/>
            </a:rPr>
            <a:t>Pipeline Health</a:t>
          </a:r>
        </a:p>
      </dgm:t>
    </dgm:pt>
    <dgm:pt modelId="{0B927E20-0C44-4B43-B3F0-C65CF86CB084}" type="parTrans" cxnId="{12540227-24E8-489D-89F0-C80BDE1C8B14}">
      <dgm:prSet custT="1"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087B42-2F5A-457F-9509-92CE5D3A2C64}" type="sibTrans" cxnId="{12540227-24E8-489D-89F0-C80BDE1C8B14}">
      <dgm:prSet/>
      <dgm:spPr/>
      <dgm:t>
        <a:bodyPr/>
        <a:lstStyle/>
        <a:p>
          <a:endParaRPr lang="en-IN" sz="12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87F47E-6E99-4C80-8D99-66E13BAAD302}" type="pres">
      <dgm:prSet presAssocID="{AF06DB3B-E44A-414C-A09D-742134B1302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B97C8C9-0C7C-4CDE-AB28-0008A6D3D9E7}" type="pres">
      <dgm:prSet presAssocID="{86CA91EC-B7AC-4640-B07F-759457551515}" presName="centerShape" presStyleLbl="node0" presStyleIdx="0" presStyleCnt="1"/>
      <dgm:spPr/>
    </dgm:pt>
    <dgm:pt modelId="{774E3EDB-6862-4A7D-8515-F8A7B480BC8B}" type="pres">
      <dgm:prSet presAssocID="{E517BCF0-7A32-4A12-A6BD-DE401948F84E}" presName="Name9" presStyleLbl="parChTrans1D2" presStyleIdx="0" presStyleCnt="4"/>
      <dgm:spPr/>
    </dgm:pt>
    <dgm:pt modelId="{CE18D16C-0C5A-41D2-B337-3ADA9827E3DC}" type="pres">
      <dgm:prSet presAssocID="{E517BCF0-7A32-4A12-A6BD-DE401948F84E}" presName="connTx" presStyleLbl="parChTrans1D2" presStyleIdx="0" presStyleCnt="4"/>
      <dgm:spPr/>
    </dgm:pt>
    <dgm:pt modelId="{2DA5D032-1FEC-4EC1-938D-435774BEDE15}" type="pres">
      <dgm:prSet presAssocID="{577A30AB-A20D-4335-8059-0B7B40464F0D}" presName="node" presStyleLbl="node1" presStyleIdx="0" presStyleCnt="4">
        <dgm:presLayoutVars>
          <dgm:bulletEnabled val="1"/>
        </dgm:presLayoutVars>
      </dgm:prSet>
      <dgm:spPr/>
    </dgm:pt>
    <dgm:pt modelId="{F93D1414-9650-4D07-A129-82696CA45D4D}" type="pres">
      <dgm:prSet presAssocID="{E1A5DAC8-1AC7-45FD-A906-7CE3E1F35412}" presName="Name9" presStyleLbl="parChTrans1D2" presStyleIdx="1" presStyleCnt="4"/>
      <dgm:spPr/>
    </dgm:pt>
    <dgm:pt modelId="{C0D4DC2C-6ACB-4521-839D-6CC45C9D6270}" type="pres">
      <dgm:prSet presAssocID="{E1A5DAC8-1AC7-45FD-A906-7CE3E1F35412}" presName="connTx" presStyleLbl="parChTrans1D2" presStyleIdx="1" presStyleCnt="4"/>
      <dgm:spPr/>
    </dgm:pt>
    <dgm:pt modelId="{A8F3657F-93C9-4C97-9307-D2545DECA611}" type="pres">
      <dgm:prSet presAssocID="{86FDA1D7-443F-4DAF-BB4C-230C3368363D}" presName="node" presStyleLbl="node1" presStyleIdx="1" presStyleCnt="4">
        <dgm:presLayoutVars>
          <dgm:bulletEnabled val="1"/>
        </dgm:presLayoutVars>
      </dgm:prSet>
      <dgm:spPr/>
    </dgm:pt>
    <dgm:pt modelId="{4A9438C6-454B-404F-92D1-A0EB90769C9F}" type="pres">
      <dgm:prSet presAssocID="{C15DDE48-90BB-487A-A35F-7654BA110B81}" presName="Name9" presStyleLbl="parChTrans1D2" presStyleIdx="2" presStyleCnt="4"/>
      <dgm:spPr/>
    </dgm:pt>
    <dgm:pt modelId="{D094957D-69C2-46B8-ABF8-931882D48CC5}" type="pres">
      <dgm:prSet presAssocID="{C15DDE48-90BB-487A-A35F-7654BA110B81}" presName="connTx" presStyleLbl="parChTrans1D2" presStyleIdx="2" presStyleCnt="4"/>
      <dgm:spPr/>
    </dgm:pt>
    <dgm:pt modelId="{241B3A41-352C-4064-90B5-2C45BB8D699C}" type="pres">
      <dgm:prSet presAssocID="{0B7281D7-E01D-49BF-853A-651ADF830121}" presName="node" presStyleLbl="node1" presStyleIdx="2" presStyleCnt="4">
        <dgm:presLayoutVars>
          <dgm:bulletEnabled val="1"/>
        </dgm:presLayoutVars>
      </dgm:prSet>
      <dgm:spPr/>
    </dgm:pt>
    <dgm:pt modelId="{970258FB-69C5-4D4B-BFCB-60FAEEAA0312}" type="pres">
      <dgm:prSet presAssocID="{0B927E20-0C44-4B43-B3F0-C65CF86CB084}" presName="Name9" presStyleLbl="parChTrans1D2" presStyleIdx="3" presStyleCnt="4"/>
      <dgm:spPr/>
    </dgm:pt>
    <dgm:pt modelId="{95396366-A8B0-4791-876B-74AD466CA105}" type="pres">
      <dgm:prSet presAssocID="{0B927E20-0C44-4B43-B3F0-C65CF86CB084}" presName="connTx" presStyleLbl="parChTrans1D2" presStyleIdx="3" presStyleCnt="4"/>
      <dgm:spPr/>
    </dgm:pt>
    <dgm:pt modelId="{5E878463-087B-4DA5-8F7D-0156A632FFED}" type="pres">
      <dgm:prSet presAssocID="{F49A6D20-C733-49A2-8E1E-D34E0D329A28}" presName="node" presStyleLbl="node1" presStyleIdx="3" presStyleCnt="4">
        <dgm:presLayoutVars>
          <dgm:bulletEnabled val="1"/>
        </dgm:presLayoutVars>
      </dgm:prSet>
      <dgm:spPr/>
    </dgm:pt>
  </dgm:ptLst>
  <dgm:cxnLst>
    <dgm:cxn modelId="{17FC1A12-6FEE-4827-9FB8-055E2C489EA3}" type="presOf" srcId="{F49A6D20-C733-49A2-8E1E-D34E0D329A28}" destId="{5E878463-087B-4DA5-8F7D-0156A632FFED}" srcOrd="0" destOrd="0" presId="urn:microsoft.com/office/officeart/2005/8/layout/radial1"/>
    <dgm:cxn modelId="{3CDC0713-4583-43FF-A5AB-6D528830A731}" type="presOf" srcId="{E517BCF0-7A32-4A12-A6BD-DE401948F84E}" destId="{CE18D16C-0C5A-41D2-B337-3ADA9827E3DC}" srcOrd="1" destOrd="0" presId="urn:microsoft.com/office/officeart/2005/8/layout/radial1"/>
    <dgm:cxn modelId="{EB94A826-CAB0-4FE9-833A-8933A61BA723}" type="presOf" srcId="{86CA91EC-B7AC-4640-B07F-759457551515}" destId="{FB97C8C9-0C7C-4CDE-AB28-0008A6D3D9E7}" srcOrd="0" destOrd="0" presId="urn:microsoft.com/office/officeart/2005/8/layout/radial1"/>
    <dgm:cxn modelId="{12540227-24E8-489D-89F0-C80BDE1C8B14}" srcId="{86CA91EC-B7AC-4640-B07F-759457551515}" destId="{F49A6D20-C733-49A2-8E1E-D34E0D329A28}" srcOrd="3" destOrd="0" parTransId="{0B927E20-0C44-4B43-B3F0-C65CF86CB084}" sibTransId="{88087B42-2F5A-457F-9509-92CE5D3A2C64}"/>
    <dgm:cxn modelId="{8D52E82B-4B35-491D-89E2-8797A06D8A43}" type="presOf" srcId="{E517BCF0-7A32-4A12-A6BD-DE401948F84E}" destId="{774E3EDB-6862-4A7D-8515-F8A7B480BC8B}" srcOrd="0" destOrd="0" presId="urn:microsoft.com/office/officeart/2005/8/layout/radial1"/>
    <dgm:cxn modelId="{58639B2D-B91A-410D-97E0-830BA8BFCD13}" srcId="{AF06DB3B-E44A-414C-A09D-742134B13025}" destId="{86CA91EC-B7AC-4640-B07F-759457551515}" srcOrd="0" destOrd="0" parTransId="{AECE9136-2A14-4709-B2AB-6594F424BC61}" sibTransId="{D91F8FDD-630D-42CF-8524-D3144785EBE5}"/>
    <dgm:cxn modelId="{3556C02D-BAC8-4BE1-8EF0-FD8401AA035E}" srcId="{86CA91EC-B7AC-4640-B07F-759457551515}" destId="{577A30AB-A20D-4335-8059-0B7B40464F0D}" srcOrd="0" destOrd="0" parTransId="{E517BCF0-7A32-4A12-A6BD-DE401948F84E}" sibTransId="{6F34D5F8-4304-4E4A-9182-F30CBDDCE84F}"/>
    <dgm:cxn modelId="{0DC12F32-4C5F-474A-9EA8-E336E137528D}" type="presOf" srcId="{0B927E20-0C44-4B43-B3F0-C65CF86CB084}" destId="{970258FB-69C5-4D4B-BFCB-60FAEEAA0312}" srcOrd="0" destOrd="0" presId="urn:microsoft.com/office/officeart/2005/8/layout/radial1"/>
    <dgm:cxn modelId="{252F8B4A-D128-4B46-9244-F2DCBA3AF0C9}" type="presOf" srcId="{577A30AB-A20D-4335-8059-0B7B40464F0D}" destId="{2DA5D032-1FEC-4EC1-938D-435774BEDE15}" srcOrd="0" destOrd="0" presId="urn:microsoft.com/office/officeart/2005/8/layout/radial1"/>
    <dgm:cxn modelId="{91DF206B-95E1-4EBC-AE6A-1D585CCDA489}" type="presOf" srcId="{C15DDE48-90BB-487A-A35F-7654BA110B81}" destId="{D094957D-69C2-46B8-ABF8-931882D48CC5}" srcOrd="1" destOrd="0" presId="urn:microsoft.com/office/officeart/2005/8/layout/radial1"/>
    <dgm:cxn modelId="{07B5756C-C883-4C7F-9E3D-426A77402024}" type="presOf" srcId="{AF06DB3B-E44A-414C-A09D-742134B13025}" destId="{9287F47E-6E99-4C80-8D99-66E13BAAD302}" srcOrd="0" destOrd="0" presId="urn:microsoft.com/office/officeart/2005/8/layout/radial1"/>
    <dgm:cxn modelId="{7E4A1D6D-8D8A-4EA7-AAFE-DF86A9002B05}" srcId="{86CA91EC-B7AC-4640-B07F-759457551515}" destId="{86FDA1D7-443F-4DAF-BB4C-230C3368363D}" srcOrd="1" destOrd="0" parTransId="{E1A5DAC8-1AC7-45FD-A906-7CE3E1F35412}" sibTransId="{1A21077E-0DCF-46E5-B327-DE52129F4453}"/>
    <dgm:cxn modelId="{A5E050A7-A93C-45AA-8E03-B5C6B69CF773}" type="presOf" srcId="{86FDA1D7-443F-4DAF-BB4C-230C3368363D}" destId="{A8F3657F-93C9-4C97-9307-D2545DECA611}" srcOrd="0" destOrd="0" presId="urn:microsoft.com/office/officeart/2005/8/layout/radial1"/>
    <dgm:cxn modelId="{2BCF2AAF-BC71-4DED-BDA3-AE012D522675}" type="presOf" srcId="{0B927E20-0C44-4B43-B3F0-C65CF86CB084}" destId="{95396366-A8B0-4791-876B-74AD466CA105}" srcOrd="1" destOrd="0" presId="urn:microsoft.com/office/officeart/2005/8/layout/radial1"/>
    <dgm:cxn modelId="{AC09F6B2-6B6E-4339-991A-446B5D251FB0}" type="presOf" srcId="{0B7281D7-E01D-49BF-853A-651ADF830121}" destId="{241B3A41-352C-4064-90B5-2C45BB8D699C}" srcOrd="0" destOrd="0" presId="urn:microsoft.com/office/officeart/2005/8/layout/radial1"/>
    <dgm:cxn modelId="{C26D29D2-7962-4D64-800B-1FA549C50CA7}" type="presOf" srcId="{C15DDE48-90BB-487A-A35F-7654BA110B81}" destId="{4A9438C6-454B-404F-92D1-A0EB90769C9F}" srcOrd="0" destOrd="0" presId="urn:microsoft.com/office/officeart/2005/8/layout/radial1"/>
    <dgm:cxn modelId="{1EC6FFF7-228D-45FD-9391-A40655B4A425}" srcId="{86CA91EC-B7AC-4640-B07F-759457551515}" destId="{0B7281D7-E01D-49BF-853A-651ADF830121}" srcOrd="2" destOrd="0" parTransId="{C15DDE48-90BB-487A-A35F-7654BA110B81}" sibTransId="{5E70B658-8308-4CB5-A64B-92E2802FCFEE}"/>
    <dgm:cxn modelId="{EDD83CF8-75EB-4CAF-9E4B-1107FCAA5A8A}" type="presOf" srcId="{E1A5DAC8-1AC7-45FD-A906-7CE3E1F35412}" destId="{C0D4DC2C-6ACB-4521-839D-6CC45C9D6270}" srcOrd="1" destOrd="0" presId="urn:microsoft.com/office/officeart/2005/8/layout/radial1"/>
    <dgm:cxn modelId="{067182FD-DB16-4B04-B48A-EAE9CFB3BBD4}" type="presOf" srcId="{E1A5DAC8-1AC7-45FD-A906-7CE3E1F35412}" destId="{F93D1414-9650-4D07-A129-82696CA45D4D}" srcOrd="0" destOrd="0" presId="urn:microsoft.com/office/officeart/2005/8/layout/radial1"/>
    <dgm:cxn modelId="{84421446-5DF8-4300-B26E-D58854D5E618}" type="presParOf" srcId="{9287F47E-6E99-4C80-8D99-66E13BAAD302}" destId="{FB97C8C9-0C7C-4CDE-AB28-0008A6D3D9E7}" srcOrd="0" destOrd="0" presId="urn:microsoft.com/office/officeart/2005/8/layout/radial1"/>
    <dgm:cxn modelId="{1119A918-8848-476F-90D7-4744F0FD3712}" type="presParOf" srcId="{9287F47E-6E99-4C80-8D99-66E13BAAD302}" destId="{774E3EDB-6862-4A7D-8515-F8A7B480BC8B}" srcOrd="1" destOrd="0" presId="urn:microsoft.com/office/officeart/2005/8/layout/radial1"/>
    <dgm:cxn modelId="{47F71904-38AA-46B9-BB8A-A4516E4FDC5C}" type="presParOf" srcId="{774E3EDB-6862-4A7D-8515-F8A7B480BC8B}" destId="{CE18D16C-0C5A-41D2-B337-3ADA9827E3DC}" srcOrd="0" destOrd="0" presId="urn:microsoft.com/office/officeart/2005/8/layout/radial1"/>
    <dgm:cxn modelId="{1724E06C-D95E-4DEE-ACA4-DE15F6C6D573}" type="presParOf" srcId="{9287F47E-6E99-4C80-8D99-66E13BAAD302}" destId="{2DA5D032-1FEC-4EC1-938D-435774BEDE15}" srcOrd="2" destOrd="0" presId="urn:microsoft.com/office/officeart/2005/8/layout/radial1"/>
    <dgm:cxn modelId="{3201DC0C-548C-4ADA-A4F1-6453E6899864}" type="presParOf" srcId="{9287F47E-6E99-4C80-8D99-66E13BAAD302}" destId="{F93D1414-9650-4D07-A129-82696CA45D4D}" srcOrd="3" destOrd="0" presId="urn:microsoft.com/office/officeart/2005/8/layout/radial1"/>
    <dgm:cxn modelId="{C290FA22-41C8-4D22-AC7C-81091DBB0086}" type="presParOf" srcId="{F93D1414-9650-4D07-A129-82696CA45D4D}" destId="{C0D4DC2C-6ACB-4521-839D-6CC45C9D6270}" srcOrd="0" destOrd="0" presId="urn:microsoft.com/office/officeart/2005/8/layout/radial1"/>
    <dgm:cxn modelId="{9DF12988-B1A2-474F-BDBD-6F030B4C06BC}" type="presParOf" srcId="{9287F47E-6E99-4C80-8D99-66E13BAAD302}" destId="{A8F3657F-93C9-4C97-9307-D2545DECA611}" srcOrd="4" destOrd="0" presId="urn:microsoft.com/office/officeart/2005/8/layout/radial1"/>
    <dgm:cxn modelId="{CC339FE0-4AEE-4968-931B-03EFA54FA1B9}" type="presParOf" srcId="{9287F47E-6E99-4C80-8D99-66E13BAAD302}" destId="{4A9438C6-454B-404F-92D1-A0EB90769C9F}" srcOrd="5" destOrd="0" presId="urn:microsoft.com/office/officeart/2005/8/layout/radial1"/>
    <dgm:cxn modelId="{850EB45E-A047-412B-9F3D-DBEB9E9FD4D2}" type="presParOf" srcId="{4A9438C6-454B-404F-92D1-A0EB90769C9F}" destId="{D094957D-69C2-46B8-ABF8-931882D48CC5}" srcOrd="0" destOrd="0" presId="urn:microsoft.com/office/officeart/2005/8/layout/radial1"/>
    <dgm:cxn modelId="{ED88D90E-D7CD-437C-8A84-E961D5B466EF}" type="presParOf" srcId="{9287F47E-6E99-4C80-8D99-66E13BAAD302}" destId="{241B3A41-352C-4064-90B5-2C45BB8D699C}" srcOrd="6" destOrd="0" presId="urn:microsoft.com/office/officeart/2005/8/layout/radial1"/>
    <dgm:cxn modelId="{DEC976F8-5A15-4516-BD90-3593267C6EFA}" type="presParOf" srcId="{9287F47E-6E99-4C80-8D99-66E13BAAD302}" destId="{970258FB-69C5-4D4B-BFCB-60FAEEAA0312}" srcOrd="7" destOrd="0" presId="urn:microsoft.com/office/officeart/2005/8/layout/radial1"/>
    <dgm:cxn modelId="{B6A01544-3BB5-4EB6-8D6B-B4D67C63BDED}" type="presParOf" srcId="{970258FB-69C5-4D4B-BFCB-60FAEEAA0312}" destId="{95396366-A8B0-4791-876B-74AD466CA105}" srcOrd="0" destOrd="0" presId="urn:microsoft.com/office/officeart/2005/8/layout/radial1"/>
    <dgm:cxn modelId="{97FC932D-1C89-41E0-9F7A-1829ADA1A568}" type="presParOf" srcId="{9287F47E-6E99-4C80-8D99-66E13BAAD302}" destId="{5E878463-087B-4DA5-8F7D-0156A632FFED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7C8C9-0C7C-4CDE-AB28-0008A6D3D9E7}">
      <dsp:nvSpPr>
        <dsp:cNvPr id="0" name=""/>
        <dsp:cNvSpPr/>
      </dsp:nvSpPr>
      <dsp:spPr>
        <a:xfrm>
          <a:off x="1923045" y="1675395"/>
          <a:ext cx="1272008" cy="12720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Agenda</a:t>
          </a:r>
        </a:p>
      </dsp:txBody>
      <dsp:txXfrm>
        <a:off x="2109326" y="1861676"/>
        <a:ext cx="899446" cy="899446"/>
      </dsp:txXfrm>
    </dsp:sp>
    <dsp:sp modelId="{774E3EDB-6862-4A7D-8515-F8A7B480BC8B}">
      <dsp:nvSpPr>
        <dsp:cNvPr id="0" name=""/>
        <dsp:cNvSpPr/>
      </dsp:nvSpPr>
      <dsp:spPr>
        <a:xfrm rot="16200000">
          <a:off x="2367192" y="1461170"/>
          <a:ext cx="383715" cy="44735"/>
        </a:xfrm>
        <a:custGeom>
          <a:avLst/>
          <a:gdLst/>
          <a:ahLst/>
          <a:cxnLst/>
          <a:rect l="0" t="0" r="0" b="0"/>
          <a:pathLst>
            <a:path>
              <a:moveTo>
                <a:pt x="0" y="22367"/>
              </a:moveTo>
              <a:lnTo>
                <a:pt x="383715" y="223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49457" y="1473945"/>
        <a:ext cx="19185" cy="19185"/>
      </dsp:txXfrm>
    </dsp:sp>
    <dsp:sp modelId="{2DA5D032-1FEC-4EC1-938D-435774BEDE15}">
      <dsp:nvSpPr>
        <dsp:cNvPr id="0" name=""/>
        <dsp:cNvSpPr/>
      </dsp:nvSpPr>
      <dsp:spPr>
        <a:xfrm>
          <a:off x="1923045" y="19671"/>
          <a:ext cx="1272008" cy="12720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Revenue Forecasting</a:t>
          </a:r>
        </a:p>
      </dsp:txBody>
      <dsp:txXfrm>
        <a:off x="2109326" y="205952"/>
        <a:ext cx="899446" cy="899446"/>
      </dsp:txXfrm>
    </dsp:sp>
    <dsp:sp modelId="{F93D1414-9650-4D07-A129-82696CA45D4D}">
      <dsp:nvSpPr>
        <dsp:cNvPr id="0" name=""/>
        <dsp:cNvSpPr/>
      </dsp:nvSpPr>
      <dsp:spPr>
        <a:xfrm>
          <a:off x="3195054" y="2289032"/>
          <a:ext cx="383715" cy="44735"/>
        </a:xfrm>
        <a:custGeom>
          <a:avLst/>
          <a:gdLst/>
          <a:ahLst/>
          <a:cxnLst/>
          <a:rect l="0" t="0" r="0" b="0"/>
          <a:pathLst>
            <a:path>
              <a:moveTo>
                <a:pt x="0" y="22367"/>
              </a:moveTo>
              <a:lnTo>
                <a:pt x="383715" y="223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77319" y="2301807"/>
        <a:ext cx="19185" cy="19185"/>
      </dsp:txXfrm>
    </dsp:sp>
    <dsp:sp modelId="{A8F3657F-93C9-4C97-9307-D2545DECA611}">
      <dsp:nvSpPr>
        <dsp:cNvPr id="0" name=""/>
        <dsp:cNvSpPr/>
      </dsp:nvSpPr>
      <dsp:spPr>
        <a:xfrm>
          <a:off x="3578769" y="1675395"/>
          <a:ext cx="1272008" cy="12720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Sales Performance</a:t>
          </a:r>
        </a:p>
      </dsp:txBody>
      <dsp:txXfrm>
        <a:off x="3765050" y="1861676"/>
        <a:ext cx="899446" cy="899446"/>
      </dsp:txXfrm>
    </dsp:sp>
    <dsp:sp modelId="{4A9438C6-454B-404F-92D1-A0EB90769C9F}">
      <dsp:nvSpPr>
        <dsp:cNvPr id="0" name=""/>
        <dsp:cNvSpPr/>
      </dsp:nvSpPr>
      <dsp:spPr>
        <a:xfrm rot="5400000">
          <a:off x="2367192" y="3116894"/>
          <a:ext cx="383715" cy="44735"/>
        </a:xfrm>
        <a:custGeom>
          <a:avLst/>
          <a:gdLst/>
          <a:ahLst/>
          <a:cxnLst/>
          <a:rect l="0" t="0" r="0" b="0"/>
          <a:pathLst>
            <a:path>
              <a:moveTo>
                <a:pt x="0" y="22367"/>
              </a:moveTo>
              <a:lnTo>
                <a:pt x="383715" y="223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49457" y="3129669"/>
        <a:ext cx="19185" cy="19185"/>
      </dsp:txXfrm>
    </dsp:sp>
    <dsp:sp modelId="{241B3A41-352C-4064-90B5-2C45BB8D699C}">
      <dsp:nvSpPr>
        <dsp:cNvPr id="0" name=""/>
        <dsp:cNvSpPr/>
      </dsp:nvSpPr>
      <dsp:spPr>
        <a:xfrm>
          <a:off x="1923045" y="3331119"/>
          <a:ext cx="1272008" cy="12720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Geographic Analysis</a:t>
          </a:r>
        </a:p>
      </dsp:txBody>
      <dsp:txXfrm>
        <a:off x="2109326" y="3517400"/>
        <a:ext cx="899446" cy="899446"/>
      </dsp:txXfrm>
    </dsp:sp>
    <dsp:sp modelId="{970258FB-69C5-4D4B-BFCB-60FAEEAA0312}">
      <dsp:nvSpPr>
        <dsp:cNvPr id="0" name=""/>
        <dsp:cNvSpPr/>
      </dsp:nvSpPr>
      <dsp:spPr>
        <a:xfrm rot="10800000">
          <a:off x="1539330" y="2289032"/>
          <a:ext cx="383715" cy="44735"/>
        </a:xfrm>
        <a:custGeom>
          <a:avLst/>
          <a:gdLst/>
          <a:ahLst/>
          <a:cxnLst/>
          <a:rect l="0" t="0" r="0" b="0"/>
          <a:pathLst>
            <a:path>
              <a:moveTo>
                <a:pt x="0" y="22367"/>
              </a:moveTo>
              <a:lnTo>
                <a:pt x="383715" y="223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1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1721595" y="2301807"/>
        <a:ext cx="19185" cy="19185"/>
      </dsp:txXfrm>
    </dsp:sp>
    <dsp:sp modelId="{5E878463-087B-4DA5-8F7D-0156A632FFED}">
      <dsp:nvSpPr>
        <dsp:cNvPr id="0" name=""/>
        <dsp:cNvSpPr/>
      </dsp:nvSpPr>
      <dsp:spPr>
        <a:xfrm>
          <a:off x="267321" y="1675395"/>
          <a:ext cx="1272008" cy="12720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Arial" panose="020B0604020202020204" pitchFamily="34" charset="0"/>
              <a:cs typeface="Arial" panose="020B0604020202020204" pitchFamily="34" charset="0"/>
            </a:rPr>
            <a:t>Pipeline Health</a:t>
          </a:r>
        </a:p>
      </dsp:txBody>
      <dsp:txXfrm>
        <a:off x="453602" y="1861676"/>
        <a:ext cx="899446" cy="899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614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62824"/>
            <a:ext cx="10452100" cy="1947176"/>
          </a:xfrm>
        </p:spPr>
        <p:txBody>
          <a:bodyPr anchor="ctr" anchorCtr="0"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Performance &amp; Revenue Forecast – FY 2025</a:t>
            </a:r>
            <a:br>
              <a:rPr lang="en-US" sz="4800" dirty="0">
                <a:solidFill>
                  <a:schemeClr val="bg1"/>
                </a:solidFill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531EA8-BBDE-68BA-2429-26EC4969071C}"/>
              </a:ext>
            </a:extLst>
          </p:cNvPr>
          <p:cNvSpPr txBox="1"/>
          <p:nvPr/>
        </p:nvSpPr>
        <p:spPr>
          <a:xfrm>
            <a:off x="901700" y="3314184"/>
            <a:ext cx="8909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Driving Growth Through Data-Driven Insights &amp; Strategic Execution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2A36-3D5B-50CF-EF6C-64E55856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Agenda and Overview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8E69A1FF-C2CE-F21F-5035-9637A7F8D72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27403133"/>
              </p:ext>
            </p:extLst>
          </p:nvPr>
        </p:nvGraphicFramePr>
        <p:xfrm>
          <a:off x="419100" y="1422400"/>
          <a:ext cx="5118100" cy="462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08394BF-BD8A-2117-F1E8-72EDC5A0075B}"/>
              </a:ext>
            </a:extLst>
          </p:cNvPr>
          <p:cNvSpPr txBox="1"/>
          <p:nvPr/>
        </p:nvSpPr>
        <p:spPr>
          <a:xfrm>
            <a:off x="5877803" y="1867846"/>
            <a:ext cx="53553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performance highlights and strategic takeaways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Performance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Total, actual, and forecasted revenue trends across years and quarters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Profit Patterns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Seasonal spikes and micro-trends driving quarterly highs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Funnel &amp; Conversion Analysis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rates, deal sizes, and funnel stage breakdowns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Departmental Performance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and loss insights across business units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&amp; Global Trends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Top-performing regions and countries with opportunity distribution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Category-Specific Insights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Furniture, Office Supplies, and Technology performance cycles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Health &amp; Forecast Accuracy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Opportunity flow, deal closure speed, and predictive reliability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Recommendations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Actionable insights to improve forecasting, conversion, and planning</a:t>
            </a:r>
            <a:endParaRPr lang="en-I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7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305543" cy="631444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Yearly Growth Trends (2020–2024): From Disruption to Resilience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5198790" cy="2069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Yearly Growth Trends (2020–2024)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Revenue has shown </a:t>
            </a:r>
            <a:r>
              <a:rPr lang="en-US" altLang="en-US" b="1" dirty="0">
                <a:latin typeface="Arial" panose="020B0604020202020204" pitchFamily="34" charset="0"/>
              </a:rPr>
              <a:t>volatility but positive long-term growth trajectory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Q3 and September</a:t>
            </a:r>
            <a:r>
              <a:rPr lang="en-US" altLang="en-US" dirty="0">
                <a:latin typeface="Arial" panose="020B0604020202020204" pitchFamily="34" charset="0"/>
              </a:rPr>
              <a:t> emerge as </a:t>
            </a:r>
            <a:r>
              <a:rPr lang="en-US" altLang="en-US" b="1" dirty="0">
                <a:latin typeface="Arial" panose="020B0604020202020204" pitchFamily="34" charset="0"/>
              </a:rPr>
              <a:t>critical revenue periods</a:t>
            </a:r>
            <a:r>
              <a:rPr lang="en-US" altLang="en-US" dirty="0">
                <a:latin typeface="Arial" panose="020B0604020202020204" pitchFamily="34" charset="0"/>
              </a:rPr>
              <a:t> for planning and resource allocation.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Forecast accuracy improvements</a:t>
            </a:r>
            <a:r>
              <a:rPr lang="en-US" altLang="en-US" dirty="0">
                <a:latin typeface="Arial" panose="020B0604020202020204" pitchFamily="34" charset="0"/>
              </a:rPr>
              <a:t> are essential for more reliable financial planning.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Monitoring weighted revenue</a:t>
            </a:r>
            <a:r>
              <a:rPr lang="en-US" altLang="en-US" dirty="0">
                <a:latin typeface="Arial" panose="020B0604020202020204" pitchFamily="34" charset="0"/>
              </a:rPr>
              <a:t> trends can enhance </a:t>
            </a:r>
            <a:r>
              <a:rPr lang="en-US" altLang="en-US" b="1" dirty="0">
                <a:latin typeface="Arial" panose="020B0604020202020204" pitchFamily="34" charset="0"/>
              </a:rPr>
              <a:t>sales efficiency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latin typeface="Arial" panose="020B0604020202020204" pitchFamily="34" charset="0"/>
              </a:rPr>
              <a:t>budget alignment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5AF51-3D02-4B40-55A6-30A6593E5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739" y="2038316"/>
            <a:ext cx="5706546" cy="26707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3BC53E-A401-6783-92E3-06A0F1963567}"/>
              </a:ext>
            </a:extLst>
          </p:cNvPr>
          <p:cNvSpPr txBox="1"/>
          <p:nvPr/>
        </p:nvSpPr>
        <p:spPr>
          <a:xfrm>
            <a:off x="521207" y="3699229"/>
            <a:ext cx="53276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Growth Projection</a:t>
            </a:r>
          </a:p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forecast data shows an expected increase in revenue for the year 2025, with a forecasted revenue of $260.87K.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a strong quarterly distribution, with the third quarter having the highest weighted amount.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data indicates a peak in September for weighted revenue.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accuracy is relatively low (18.20%), suggesting some variability or uncertainty in the forecast.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average probability of forecast success is around 59.93%.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597643" cy="574294"/>
          </a:xfrm>
        </p:spPr>
        <p:txBody>
          <a:bodyPr>
            <a:noAutofit/>
          </a:bodyPr>
          <a:lstStyle/>
          <a:p>
            <a:r>
              <a:rPr lang="en-IN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Optimization Strategies</a:t>
            </a:r>
            <a:endParaRPr lang="en-US" sz="2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C3137A-22F1-4688-3474-0F63A8810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1" y="1147959"/>
            <a:ext cx="5016499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Improvement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 Weighted Revenue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high-value opportunities with moderate to high probability.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Reallocate resources to maximize weighted revenue potential.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Capitalize on Seasonal Trends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 marketing campaigns and product launches around peak months (e.g., September).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Q3 trends to enhance promotions and sales initiatives.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in High-Performing Regions and Categories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regional and category performance to target high-growth areas.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Tailor strategies using regional insights (Asia, Europe, Middle East, etc.).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 Revenue Fluctuations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Investigate causes of yearly dips and implement corrective measures.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balanced efforts across quarters and months to stabilize revenue.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Actual Revenue Capture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follow-up strategies and closing techniques to convert opportunities.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potential revenue leaks through better pipeline management.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Data Granularity and Tracking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weighted revenue by month and quarter for more granular insights.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real-time dashboards and alerts to monitor revenue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867C2-D7BB-4DAE-4597-275CE5D3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920" y="3984137"/>
            <a:ext cx="4006850" cy="2576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AB72EC-FF33-8FC3-F594-5C8845B1E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920" y="1260856"/>
            <a:ext cx="4015630" cy="258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1207" y="448056"/>
            <a:ext cx="8800593" cy="536194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Trends &amp; Performance Across Departments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Performance Insights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Rate: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company sustains a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62%-win rate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won revenue slightly exceeding lost value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indicating balanced sales effectiveness.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Top-Performing Departments: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Strong performance in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Levels, Specialties, Pricing, and Terms &amp; Conditions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driving most successful deals.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Challenges: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Major contributors to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lost value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include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Buyer Cancellations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signaling areas for strategic improvement.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Funnel Analysis: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pipeline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exists at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and mid funnel stages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though conversion can improve for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Sold Not Booked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Unsuccessful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Actionable Focus: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Strengthen late-stage deal management and refine win-back strategies for lost opportunities.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0FB04-49A8-2B8A-2361-22BC1A410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215" y="1783398"/>
            <a:ext cx="5274049" cy="369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Strategies to Boost Sales Performance</a:t>
            </a:r>
          </a:p>
        </p:txBody>
      </p:sp>
      <p:cxnSp>
        <p:nvCxnSpPr>
          <p:cNvPr id="20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54D0E0-8EF8-9744-A017-08545F9B41A9}"/>
              </a:ext>
            </a:extLst>
          </p:cNvPr>
          <p:cNvSpPr txBox="1"/>
          <p:nvPr/>
        </p:nvSpPr>
        <p:spPr>
          <a:xfrm>
            <a:off x="400051" y="1229994"/>
            <a:ext cx="5219698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Improvement</a:t>
            </a:r>
          </a:p>
          <a:p>
            <a:pPr>
              <a:buNone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Late-Stage Conversions: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Implement targeted follow-ups and personalized offers to recover “Sold Not Booked” and “Unsuccessful” deals.</a:t>
            </a: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Competitive Intelligence: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Strengthen win–loss analysis to identify competitor pricing, service gaps, and differentiators.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Buyer Retention Programs: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Reduce cancellations through proactive engagement, improved onboarding, and loyalty initiatives.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Enablement: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 training and data-driven insights to help teams close complex, high-value opportunities faster.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Optimization: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Prioritize high-probability deals and automate lead scoring to focus resources efficiently.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Cross-Department Collaboration: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Align service, pricing, and account teams for consistent customer experience across the funnel.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Monitoring: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 dashboards to track stage-wise conversion rates and set measurable improvement goals.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370673-4688-41B7-44D6-AD8B8519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43" b="6483"/>
          <a:stretch>
            <a:fillRect/>
          </a:stretch>
        </p:blipFill>
        <p:spPr>
          <a:xfrm>
            <a:off x="6360813" y="1229995"/>
            <a:ext cx="5431130" cy="24593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9C7570-57B9-20A6-7180-B1B0317CB1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7" t="1868"/>
          <a:stretch>
            <a:fillRect/>
          </a:stretch>
        </p:blipFill>
        <p:spPr>
          <a:xfrm>
            <a:off x="6360813" y="3831210"/>
            <a:ext cx="4085825" cy="271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8343393" cy="631444"/>
          </a:xfrm>
        </p:spPr>
        <p:txBody>
          <a:bodyPr>
            <a:noAutofit/>
          </a:bodyPr>
          <a:lstStyle/>
          <a:p>
            <a:pPr lvl="0"/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Pipeline Performance Insights (2020–2024)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223CD-ECBB-AEDC-E6CF-8D72EA342F36}"/>
              </a:ext>
            </a:extLst>
          </p:cNvPr>
          <p:cNvSpPr txBox="1"/>
          <p:nvPr/>
        </p:nvSpPr>
        <p:spPr>
          <a:xfrm>
            <a:off x="622300" y="1295400"/>
            <a:ext cx="523301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Pipeline Performance Insights</a:t>
            </a:r>
          </a:p>
          <a:p>
            <a:pPr>
              <a:buNone/>
            </a:pP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Steady Growth with 2023 Peak:</a:t>
            </a:r>
            <a:b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activity rose sharply in 2022–2023 (143 deals in 2023) before a slowdown in 2024, indicating potential resource or market constraints.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 Metrics:</a:t>
            </a:r>
            <a:b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3.35 days to close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suggests efficient turnaround, especially for short-cycle opportunities.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Healthy Pipeline: 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sales pipeline remains strong, with a high total value and a short average closing time, reflecting operational efficiency.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Recent Growth Momentum: 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majority of deals and wins are concentrated in 2022–2023, marking a peak in opportunity generation and conversion.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Performance: 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Asia and Pacific regions lead in won opportunities, highlighting strong market traction and execution effectiveness.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Conversion Focus: 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should be directed toward “Open” and “Best Few” stages to reduce losses and improve late-stage deal conversions.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Opportunity: </a:t>
            </a:r>
            <a:r>
              <a:rPr lang="en-US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Strengthening the Best Few stage can significantly uplift overall win rates and revenue outcomes.</a:t>
            </a: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D566B-8D4D-8FC8-03E9-1E7163D05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837" y="1295400"/>
            <a:ext cx="4236413" cy="2806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D208F7-3EF7-BD59-F49E-14DCBAE69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837" y="4150147"/>
            <a:ext cx="3739341" cy="236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83107" y="441706"/>
            <a:ext cx="6877119" cy="640080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Strategies for Pipeline Optimization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461F1-5CF4-CAC6-7E00-597DAE74342C}"/>
              </a:ext>
            </a:extLst>
          </p:cNvPr>
          <p:cNvSpPr txBox="1"/>
          <p:nvPr/>
        </p:nvSpPr>
        <p:spPr>
          <a:xfrm>
            <a:off x="673100" y="1365250"/>
            <a:ext cx="5467350" cy="4946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Pipeline Optimization</a:t>
            </a:r>
          </a:p>
          <a:p>
            <a:pPr>
              <a:buNone/>
            </a:pP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Strengthen Mid-to-Late Funnel Conversion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drop-off points between “Sold Not Booked” and “Unsuccessful.”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 sales playbooks and deal review checkpoints for critical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Regional Tailoring &amp; Focus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Replicate Asia-Pacific best practices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(pricing, engagement, or product bundling) in underperforming regions like USA &amp; Canada.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 localized offers or faster response models to counter regional competition.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Opportunity Quality &amp; Forecasting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scoring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prioritize high-probability deals.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Refine forecasting accuracy using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close date trends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pipeline aging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Data-Driven Sales Coaching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dashboard insights to coach reps on deal pacing, conversion tactics, and objection handling.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Reduce Lost Opportunities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win–loss analyses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understand patterns behind buyer cancellations and competition-led losses.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win-back campaigns targeting high-value lost deals.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Enhance Early Funnel Efficiency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 qualification and nurture low-touch leads to maintain healthy inflow without overburdening sales teams.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3F4044-CED2-B1A4-AC4E-78F0C6E9F0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8" t="-1" r="3850" b="613"/>
          <a:stretch>
            <a:fillRect/>
          </a:stretch>
        </p:blipFill>
        <p:spPr>
          <a:xfrm>
            <a:off x="6483350" y="1248188"/>
            <a:ext cx="5035550" cy="30825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3D7B41-368D-68E1-58C6-707D90C417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5" t="2204" r="1861" b="15325"/>
          <a:stretch>
            <a:fillRect/>
          </a:stretch>
        </p:blipFill>
        <p:spPr>
          <a:xfrm>
            <a:off x="6483350" y="4565650"/>
            <a:ext cx="5179667" cy="163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84707" y="543306"/>
            <a:ext cx="8832343" cy="526450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Performance &amp; Growth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C403C-7E23-BE58-184C-AEC26801FD9A}"/>
              </a:ext>
            </a:extLst>
          </p:cNvPr>
          <p:cNvSpPr txBox="1"/>
          <p:nvPr/>
        </p:nvSpPr>
        <p:spPr>
          <a:xfrm>
            <a:off x="438657" y="1482289"/>
            <a:ext cx="526364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Regional Performance Insights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Asia (led by China)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top-performing region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excelling in both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revenue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funnel activity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Pacific region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also demonstrates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funnel performance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consistent deal flow.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 &amp; Canada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show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revenues and smaller funnel volumes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revealing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 potential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company should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 momentum in Asia-Pacific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while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developing targeted strategies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improve performance in other regions.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Middle East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shows a moderate funnel stage activity with potential to grow, especially by focusing on the "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Booked" and "Sold Not Booked" stages.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"Unsuccessful"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funnel counts are relatively low across all regions, indicating efficient funnel management but also opportunities to convert some of the "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Sold Not Booked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leads into revenue.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1DA30-B95E-1B4F-0C8B-36C4A41BD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764" y="3978296"/>
            <a:ext cx="4166582" cy="2507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B1E0B6-8C28-9868-48BA-E8998DDF4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64" y="1251351"/>
            <a:ext cx="5114277" cy="244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CE80-746E-AE60-A84E-7EC122D2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368300"/>
            <a:ext cx="8692643" cy="666750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Growth Across Key Global Regions</a:t>
            </a:r>
            <a:endParaRPr lang="en-IN" sz="2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98759-74AD-86D0-CC7A-7FF8372C9677}"/>
              </a:ext>
            </a:extLst>
          </p:cNvPr>
          <p:cNvSpPr txBox="1"/>
          <p:nvPr/>
        </p:nvSpPr>
        <p:spPr>
          <a:xfrm>
            <a:off x="584200" y="1308100"/>
            <a:ext cx="50863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Growth Strategies</a:t>
            </a:r>
          </a:p>
          <a:p>
            <a:pPr>
              <a:buNone/>
            </a:pP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Strengthen Leadership in Asia-Pacific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 investing in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high-performing markets (China, New Zealand, India)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 partnerships and product offerings in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emerging Asian economies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Localize marketing to deepen regional brand presence.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Revitalize USA &amp; Europe Performance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gap analysis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identify pricing or service limitations.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region-specific promotions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bundled offerings.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enablement and client engagement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competitive differentiation.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Optimize Funnel Conversion Across Regions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“Sold Not Booked”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late-stage deal drop-offs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recover potential wins.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out regional sales strategies designed to align with customer buying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Leverage Data-Driven Insights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dashboard analytics to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 regional conversion rates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deal velocity, and revenue per opportunity.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high-potential regions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scalable ROI.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Balanced Global Expansion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Asia-Pacific as the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 anchor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while strategically investing in 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underpenetrated markets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ensure global stability.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26835E-17A3-9120-AC86-DB669E3589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5" t="470" r="2124" b="878"/>
          <a:stretch>
            <a:fillRect/>
          </a:stretch>
        </p:blipFill>
        <p:spPr>
          <a:xfrm>
            <a:off x="6775450" y="1454150"/>
            <a:ext cx="44767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5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D2E4-19CD-C571-8E38-CD2A8BA7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and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96780-474A-6965-120C-2EDC89E98D4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11017504" cy="5200142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Key Takeaways &amp; Strategic Next Steps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Revenue Outlook: FY 2025 forecast at $260.87K, with Q3 and September as peak periods.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Sales Efficiency: 62% win rate, strong departmental performance, but late-stage conversion needs attention.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Regional Focus: Asia-Pacific leads growth; USA, Europe, and Middle East offer untapped potential.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Pipeline Health: Fast deal closure (avg. 3.35 days), but “Sold Not Booked” stage needs strategic recovery.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Action Plan: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Boost weighted revenue via high-probability deals                                                                                                                                                              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Strengthen competitive intelligence and buyer retention                                                                                                                                                                            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Localize regional strategies and replicate best practices                                                                                                                                                                           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Enhance forecasting accuracy and dashboard tracking</a:t>
            </a:r>
          </a:p>
        </p:txBody>
      </p:sp>
    </p:spTree>
    <p:extLst>
      <p:ext uri="{BB962C8B-B14F-4D97-AF65-F5344CB8AC3E}">
        <p14:creationId xmlns:p14="http://schemas.microsoft.com/office/powerpoint/2010/main" val="134504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CCFDD3-8A11-977C-BB72-ED4EE28D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854" y="4099560"/>
            <a:ext cx="6451346" cy="16281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your time. Looking forward to driving growth together!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{2E5D76A4-5A7B-427B-BE31-C7CB95580663}tf10001108_win32</Template>
  <TotalTime>396</TotalTime>
  <Words>1480</Words>
  <Application>Microsoft Office PowerPoint</Application>
  <PresentationFormat>Widescreen</PresentationFormat>
  <Paragraphs>167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Custom</vt:lpstr>
      <vt:lpstr>Sales Performance &amp; Revenue Forecast – FY 2025 </vt:lpstr>
      <vt:lpstr>Agenda and Overview</vt:lpstr>
      <vt:lpstr>Yearly Growth Trends (2020–2024): From Disruption to Resilience</vt:lpstr>
      <vt:lpstr>Revenue Optimization Strategies</vt:lpstr>
      <vt:lpstr>Sales Trends &amp; Performance Across Departments</vt:lpstr>
      <vt:lpstr>Key Strategies to Boost Sales Performance</vt:lpstr>
      <vt:lpstr>Sales Pipeline Performance Insights (2020–2024)</vt:lpstr>
      <vt:lpstr>Key Strategies for Pipeline Optimization </vt:lpstr>
      <vt:lpstr>Regional Performance &amp; Growth Insights</vt:lpstr>
      <vt:lpstr>Strategies For Growth Across Key Global Regions</vt:lpstr>
      <vt:lpstr>Conclusion and Summary</vt:lpstr>
      <vt:lpstr>Thank you for your time. Looking forward to driving growth together!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Pankhuri Mahajan</dc:creator>
  <cp:keywords/>
  <cp:lastModifiedBy>Pankhuri Mahajan</cp:lastModifiedBy>
  <cp:revision>5</cp:revision>
  <dcterms:created xsi:type="dcterms:W3CDTF">2025-10-20T15:29:20Z</dcterms:created>
  <dcterms:modified xsi:type="dcterms:W3CDTF">2025-10-21T10:07:05Z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